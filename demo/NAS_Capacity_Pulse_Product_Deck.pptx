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gradFill rotWithShape="1">
            <a:gsLst>
              <a:gs pos="0">
                <a:srgbClr val="4A90D9"/>
              </a:gs>
              <a:gs pos="100000">
                <a:srgbClr val="6C5CE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1097280"/>
            <a:ext cx="3840480" cy="466344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A90D9"/>
                </a:solidFill>
                <a:latin typeface="Calibri"/>
              </a:rPr>
              <a:t>PRODUCT SHOWCASE  ·  BUILT WITH DEVIN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1097280" cy="50800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7132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NAS Capacity Pulse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E9EDF5"/>
                </a:solidFill>
                <a:latin typeface="Calibri"/>
              </a:rPr>
              <a:t>Volume Anomaly Detection &amp; Storage Forecaster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5BD"/>
                </a:solidFill>
                <a:latin typeface="Calibri"/>
              </a:rPr>
              <a:t>Enterprise NAS storage intelligence with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sub-application level</a:t>
            </a:r>
            <a:r>
              <a:rPr sz="1500" b="0" i="0">
                <a:solidFill>
                  <a:srgbClr val="9AA5BD"/>
                </a:solidFill>
                <a:latin typeface="Calibri"/>
              </a:rPr>
              <a:t> granularity — purge insight, cost forecasting and capacity planning that server-level tools like Grafana cannot deliver.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05740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82296" cy="914400"/>
          </a:xfrm>
          <a:prstGeom prst="round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389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~1 hr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to first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5029200"/>
            <a:ext cx="205740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5029200"/>
            <a:ext cx="82296" cy="91440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51389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21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to full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5029200"/>
            <a:ext cx="205740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0" y="5029200"/>
            <a:ext cx="82296" cy="91440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51389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iterative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3716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A90D9"/>
                </a:solidFill>
                <a:latin typeface="Calibri"/>
              </a:rPr>
              <a:t>AT A GLANCE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828800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Full-stack app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FastAPI · SQLite · Chart.js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432304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~15,000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lines of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035808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8-page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gradient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39312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67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automated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42816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POSIX shell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agents, zero deps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46320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Demo video 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narrated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E2A4A"/>
              </a:gs>
              <a:gs pos="100000">
                <a:srgbClr val="6C5CE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Product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9EDF5"/>
                </a:solidFill>
                <a:latin typeface="Calibri"/>
              </a:rPr>
              <a:t>Sub-app level NAS storage monitoring, forecasting &amp; controlled cleanup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6309360" cy="43708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1" y="1572768"/>
            <a:ext cx="530351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7044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AA5BD"/>
                </a:solidFill>
                <a:latin typeface="Calibri"/>
              </a:rPr>
              <a:t>Live dashboard — space distribution, sub-app breakdown &amp; 5-year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371600"/>
            <a:ext cx="47091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100584" cy="84124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1472184"/>
            <a:ext cx="4251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23A"/>
                </a:solidFill>
                <a:latin typeface="Calibri"/>
              </a:rPr>
              <a:t>Sub-App Granularity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F77"/>
                </a:solidFill>
                <a:latin typeface="Calibri"/>
              </a:rPr>
              <a:t>Space usage per team/service, not just per server or filesystem.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281428"/>
            <a:ext cx="47091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2281428"/>
            <a:ext cx="100584" cy="84124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2382012"/>
            <a:ext cx="4251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23A"/>
                </a:solidFill>
                <a:latin typeface="Calibri"/>
              </a:rPr>
              <a:t>Growth &amp; Cost Forecast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F77"/>
                </a:solidFill>
                <a:latin typeface="Calibri"/>
              </a:rPr>
              <a:t>Regression on historical snapshots projects size &amp; $ from 1 week to 5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191256"/>
            <a:ext cx="47091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86600" y="3191256"/>
            <a:ext cx="100584" cy="841248"/>
          </a:xfrm>
          <a:prstGeom prst="round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3291840"/>
            <a:ext cx="4251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23A"/>
                </a:solidFill>
                <a:latin typeface="Calibri"/>
              </a:rPr>
              <a:t>Purge &amp; Archive Workflow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F77"/>
                </a:solidFill>
                <a:latin typeface="Calibri"/>
              </a:rPr>
              <a:t>Archive-before-delete with confirmation; surfaces largest, oldest files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101084"/>
            <a:ext cx="47091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4101084"/>
            <a:ext cx="100584" cy="841248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4201668"/>
            <a:ext cx="4251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23A"/>
                </a:solidFill>
                <a:latin typeface="Calibri"/>
              </a:rPr>
              <a:t>Capacity Planning + Alerts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F77"/>
                </a:solidFill>
                <a:latin typeface="Calibri"/>
              </a:rPr>
              <a:t>Per-team allocation with 80% threshold email alerts and consumption plans.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5010912"/>
            <a:ext cx="47091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6600" y="5010912"/>
            <a:ext cx="100584" cy="841248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5111496"/>
            <a:ext cx="4251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23A"/>
                </a:solidFill>
                <a:latin typeface="Calibri"/>
              </a:rPr>
              <a:t>Zero-Dependency Agents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F77"/>
                </a:solidFill>
                <a:latin typeface="Calibri"/>
              </a:rPr>
              <a:t>POSIX shell agents (du/find/stat/curl) — no Python or Java on monitored hosts.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Devin — Impact &amp;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9EDF5"/>
                </a:solidFill>
                <a:latin typeface="Calibri"/>
              </a:rPr>
              <a:t>A production-grade, iteratively-refined product delivered at a fraction of traditional effort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9748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97480" cy="7315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8132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ACU of agent compute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325880"/>
            <a:ext cx="269748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6704" y="1325880"/>
            <a:ext cx="2697480" cy="73152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8132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commits · 10 phases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325880"/>
            <a:ext cx="269748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1325880"/>
            <a:ext cx="2697480" cy="73152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8132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~15K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lines of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325880"/>
            <a:ext cx="2697480" cy="914400"/>
          </a:xfrm>
          <a:prstGeom prst="roundRect">
            <a:avLst/>
          </a:prstGeom>
          <a:solidFill>
            <a:srgbClr val="243157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34272" y="1325880"/>
            <a:ext cx="2697480" cy="73152"/>
          </a:xfrm>
          <a:prstGeom prst="round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8132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67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AA5BD"/>
                </a:solidFill>
                <a:latin typeface="Calibri"/>
              </a:rPr>
              <a:t>tests, all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14600"/>
            <a:ext cx="626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90D9"/>
                </a:solidFill>
                <a:latin typeface="Calibri"/>
              </a:rPr>
              <a:t>TIME TO BUILD — DEVIN vs. 2 ENGINEERS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6263640" cy="566928"/>
          </a:xfrm>
          <a:prstGeom prst="rect">
            <a:avLst/>
          </a:prstGeom>
          <a:gradFill rotWithShape="1">
            <a:gsLst>
              <a:gs pos="0">
                <a:srgbClr val="1E2A4A"/>
              </a:gs>
              <a:gs pos="100000">
                <a:srgbClr val="24315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926080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92608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2926080"/>
            <a:ext cx="1691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AA5BD"/>
                </a:solidFill>
                <a:latin typeface="Calibri"/>
              </a:rPr>
              <a:t>2-Engineer Team*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93008"/>
            <a:ext cx="6263640" cy="566928"/>
          </a:xfrm>
          <a:prstGeom prst="rect">
            <a:avLst/>
          </a:prstGeom>
          <a:solidFill>
            <a:srgbClr val="24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93008"/>
            <a:ext cx="64008" cy="566928"/>
          </a:xfrm>
          <a:prstGeom prst="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49300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9EDF5"/>
                </a:solidFill>
                <a:latin typeface="Calibri"/>
              </a:rPr>
              <a:t>Working full-stack 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3493008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7A3A"/>
                </a:solidFill>
                <a:latin typeface="Calibri"/>
              </a:rPr>
              <a:t>&lt; 1 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3493008"/>
            <a:ext cx="1691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5BD"/>
                </a:solidFill>
                <a:latin typeface="Calibri"/>
              </a:rPr>
              <a:t>1–2 weeks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59936"/>
            <a:ext cx="6263640" cy="566928"/>
          </a:xfrm>
          <a:prstGeom prst="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059936"/>
            <a:ext cx="64008" cy="5669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059936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9EDF5"/>
                </a:solidFill>
                <a:latin typeface="Calibri"/>
              </a:rPr>
              <a:t>Feature-complete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4059936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90D9"/>
                </a:solidFill>
                <a:latin typeface="Calibri"/>
              </a:rPr>
              <a:t>~21 calendar days**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59936"/>
            <a:ext cx="1691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5BD"/>
                </a:solidFill>
                <a:latin typeface="Calibri"/>
              </a:rPr>
              <a:t>~6–8 weeks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626864"/>
            <a:ext cx="6263640" cy="566928"/>
          </a:xfrm>
          <a:prstGeom prst="rect">
            <a:avLst/>
          </a:prstGeom>
          <a:solidFill>
            <a:srgbClr val="24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626864"/>
            <a:ext cx="64008" cy="5669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626864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9EDF5"/>
                </a:solidFill>
                <a:latin typeface="Calibri"/>
              </a:rPr>
              <a:t>Active 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626864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C5CE7"/>
                </a:solidFill>
                <a:latin typeface="Calibri"/>
              </a:rPr>
              <a:t>~226 ACU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632" y="4626864"/>
            <a:ext cx="1691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5BD"/>
                </a:solidFill>
                <a:latin typeface="Calibri"/>
              </a:rPr>
              <a:t>~480 person-hours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93792"/>
            <a:ext cx="6263640" cy="566928"/>
          </a:xfrm>
          <a:prstGeom prst="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193792"/>
            <a:ext cx="64008" cy="56692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193792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9EDF5"/>
                </a:solidFill>
                <a:latin typeface="Calibri"/>
              </a:rPr>
              <a:t>Docs + tests + demo video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5193792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39C12"/>
                </a:solidFill>
                <a:latin typeface="Calibri"/>
              </a:rPr>
              <a:t>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2" y="5193792"/>
            <a:ext cx="1691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5BD"/>
                </a:solidFill>
                <a:latin typeface="Calibri"/>
              </a:rPr>
              <a:t>+1–2 weeks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9AA5BD"/>
                </a:solidFill>
                <a:latin typeface="Calibri"/>
              </a:rPr>
              <a:t>*Estimate for 2 mid-level full-stack engineers building the same scope from scratch.  **Mostly stakeholder feedback/idle time; hands-on agent work was a small fraction.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5146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90D9"/>
                </a:solidFill>
                <a:latin typeface="Calibri"/>
              </a:rPr>
              <a:t>KEY BENEFITS REALIZED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2926080"/>
            <a:ext cx="128016" cy="128016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208" y="2871216"/>
            <a:ext cx="4343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Speed to value —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From idea to demo-ready product in days, not months.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86600" y="3584448"/>
            <a:ext cx="128016" cy="128016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208" y="3529584"/>
            <a:ext cx="4343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Iterative partnership —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10 feedback-driven phases — UI, forecasting, auth, alerts.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4242816"/>
            <a:ext cx="128016" cy="128016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208" y="4187952"/>
            <a:ext cx="4343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Full-stack breadth —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Backend, DB, dashboard, shell agents &amp; docs in one flow.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86600" y="4901184"/>
            <a:ext cx="128016" cy="128016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208" y="4846320"/>
            <a:ext cx="4343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Built-in quality —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67 tests, security hardening, Devin Review bug fixes.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5559552"/>
            <a:ext cx="128016" cy="128016"/>
          </a:xfrm>
          <a:prstGeom prst="round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208" y="5504688"/>
            <a:ext cx="4343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Deliverables beyond code — </a:t>
            </a:r>
            <a:r>
              <a:rPr sz="1200" b="0" i="0">
                <a:solidFill>
                  <a:srgbClr val="9AA5BD"/>
                </a:solidFill>
                <a:latin typeface="Calibri"/>
              </a:rPr>
              <a:t>Narrated demo video, technical design docs, gap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E2A4A"/>
              </a:gs>
              <a:gs pos="100000">
                <a:srgbClr val="6C5CE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9EDF5"/>
                </a:solidFill>
                <a:latin typeface="Calibri"/>
              </a:rPr>
              <a:t>What NAS Capacity Pulse — and the way it was built —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49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118872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23A"/>
                </a:solidFill>
                <a:latin typeface="Calibri"/>
              </a:rPr>
              <a:t>Solves a real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7823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46E"/>
                </a:solidFill>
                <a:latin typeface="Calibri"/>
              </a:rPr>
              <a:t>Sub-application storage visibility, purge insight and cost forecasting that traditional server-level tools (Grafana, Zabbix) simply do not provide.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349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349240" cy="118872"/>
          </a:xfrm>
          <a:prstGeom prst="round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502920" cy="502920"/>
          </a:xfrm>
          <a:prstGeom prst="round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7830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23A"/>
                </a:solidFill>
                <a:latin typeface="Calibri"/>
              </a:rPr>
              <a:t>Delivered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468880"/>
            <a:ext cx="47823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46E"/>
                </a:solidFill>
                <a:latin typeface="Calibri"/>
              </a:rPr>
              <a:t>A working full-stack MVP in under an hour and a feature-complete, tested product across ~21 days — a fraction of a traditional 2-engineer timeline.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349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49240" cy="11887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502920" cy="502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690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23A"/>
                </a:solidFill>
                <a:latin typeface="Calibri"/>
              </a:rPr>
              <a:t>Enterprise-ready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754880"/>
            <a:ext cx="47823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46E"/>
                </a:solidFill>
                <a:latin typeface="Calibri"/>
              </a:rPr>
              <a:t>Zero-dependency shell agents, auth, archive-before-delete controls, 80% allocation alerts, and CSV audit trails built for scale (10 TB+ servers).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03320"/>
            <a:ext cx="5349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B10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703320"/>
            <a:ext cx="5349240" cy="118872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402336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690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23A"/>
                </a:solidFill>
                <a:latin typeface="Calibri"/>
              </a:rPr>
              <a:t>More than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754880"/>
            <a:ext cx="47823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46E"/>
                </a:solidFill>
                <a:latin typeface="Calibri"/>
              </a:rPr>
              <a:t>Tests, security hardening, technical design docs, gap analysis and a narrated demo video — all produced within the same Devin engagement.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6C5CE7"/>
              </a:gs>
              <a:gs pos="100000">
                <a:srgbClr val="4A90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82512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NAS Capacity Pulse  ·  Designed &amp; built with Devin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